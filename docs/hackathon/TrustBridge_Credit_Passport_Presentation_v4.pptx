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da9f3c19034cd5" /><Relationship Type="http://schemas.openxmlformats.org/officeDocument/2006/relationships/extended-properties" Target="/docProps/app.xml" Id="Rc109a5021f714559" /><Relationship Type="http://schemas.openxmlformats.org/officeDocument/2006/relationships/officeDocument" Target="/ppt/presentation.xml" Id="R73b601d99b2d4c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6c22c9b28a440b"/>
  </p:sldMasterIdLst>
  <p:notesMasterIdLst>
    <p:notesMasterId xmlns:r="http://schemas.openxmlformats.org/officeDocument/2006/relationships" r:id="R38837daabeab43a8"/>
  </p:notesMasterIdLst>
  <p:sldIdLst>
    <p:sldId xmlns:r="http://schemas.openxmlformats.org/officeDocument/2006/relationships" id="256" r:id="R239bb105b44347e0"/>
    <p:sldId xmlns:r="http://schemas.openxmlformats.org/officeDocument/2006/relationships" id="257" r:id="R59f1209542564859"/>
    <p:sldId xmlns:r="http://schemas.openxmlformats.org/officeDocument/2006/relationships" id="258" r:id="R4cccf31c1ecd460c"/>
    <p:sldId xmlns:r="http://schemas.openxmlformats.org/officeDocument/2006/relationships" id="259" r:id="Rc3b0a8d0179745e4"/>
    <p:sldId xmlns:r="http://schemas.openxmlformats.org/officeDocument/2006/relationships" id="260" r:id="R31c7d132b85846e8"/>
    <p:sldId xmlns:r="http://schemas.openxmlformats.org/officeDocument/2006/relationships" id="261" r:id="Rfd929d992643472f"/>
    <p:sldId xmlns:r="http://schemas.openxmlformats.org/officeDocument/2006/relationships" id="262" r:id="R791a4031d5e94f83"/>
    <p:sldId xmlns:r="http://schemas.openxmlformats.org/officeDocument/2006/relationships" id="263" r:id="R4bd083b3489b4d46"/>
    <p:sldId xmlns:r="http://schemas.openxmlformats.org/officeDocument/2006/relationships" id="264" r:id="R001b3f6d60a64703"/>
    <p:sldId xmlns:r="http://schemas.openxmlformats.org/officeDocument/2006/relationships" id="265" r:id="R360372c7d56545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d1d04575704d10" /><Relationship Type="http://schemas.openxmlformats.org/officeDocument/2006/relationships/slideMaster" Target="/ppt/slideMasters/slideMaster1.xml" Id="R696c22c9b28a440b" /><Relationship Type="http://schemas.openxmlformats.org/officeDocument/2006/relationships/notesMaster" Target="/ppt/notesMasters/notesMaster1.xml" Id="R38837daabeab43a8" /><Relationship Type="http://schemas.openxmlformats.org/officeDocument/2006/relationships/presProps" Target="/ppt/presProps.xml" Id="R37000deb156644eb" /><Relationship Type="http://schemas.openxmlformats.org/officeDocument/2006/relationships/tableStyles" Target="/ppt/tableStyles.xml" Id="R1db3730f5da44199" /><Relationship Type="http://schemas.openxmlformats.org/officeDocument/2006/relationships/slide" Target="/ppt/slides/slide1.xml" Id="R239bb105b44347e0" /><Relationship Type="http://schemas.openxmlformats.org/officeDocument/2006/relationships/slide" Target="/ppt/slides/slide2.xml" Id="R59f1209542564859" /><Relationship Type="http://schemas.openxmlformats.org/officeDocument/2006/relationships/slide" Target="/ppt/slides/slide3.xml" Id="R4cccf31c1ecd460c" /><Relationship Type="http://schemas.openxmlformats.org/officeDocument/2006/relationships/slide" Target="/ppt/slides/slide4.xml" Id="Rc3b0a8d0179745e4" /><Relationship Type="http://schemas.openxmlformats.org/officeDocument/2006/relationships/slide" Target="/ppt/slides/slide5.xml" Id="R31c7d132b85846e8" /><Relationship Type="http://schemas.openxmlformats.org/officeDocument/2006/relationships/slide" Target="/ppt/slides/slide6.xml" Id="Rfd929d992643472f" /><Relationship Type="http://schemas.openxmlformats.org/officeDocument/2006/relationships/slide" Target="/ppt/slides/slide7.xml" Id="R791a4031d5e94f83" /><Relationship Type="http://schemas.openxmlformats.org/officeDocument/2006/relationships/slide" Target="/ppt/slides/slide8.xml" Id="R4bd083b3489b4d46" /><Relationship Type="http://schemas.openxmlformats.org/officeDocument/2006/relationships/slide" Target="/ppt/slides/slide9.xml" Id="R001b3f6d60a64703" /><Relationship Type="http://schemas.openxmlformats.org/officeDocument/2006/relationships/slide" Target="/ppt/slides/slide10.xml" Id="R360372c7d56545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c0fbe4704a40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65281b5d3d451e" /><Relationship Type="http://schemas.openxmlformats.org/officeDocument/2006/relationships/notesMaster" Target="/ppt/notesMasters/notesMaster1.xml" Id="Rfc6de5d056a743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93739898b54591" /><Relationship Type="http://schemas.openxmlformats.org/officeDocument/2006/relationships/notesMaster" Target="/ppt/notesMasters/notesMaster1.xml" Id="R1d473aab18514b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1b8cb5475347d3" /><Relationship Type="http://schemas.openxmlformats.org/officeDocument/2006/relationships/notesMaster" Target="/ppt/notesMasters/notesMaster1.xml" Id="R0d61e9ffeaea46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b4cc7c1539494c" /><Relationship Type="http://schemas.openxmlformats.org/officeDocument/2006/relationships/notesMaster" Target="/ppt/notesMasters/notesMaster1.xml" Id="R0f8b83fa8a1a47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9f6eeb82c441d3" /><Relationship Type="http://schemas.openxmlformats.org/officeDocument/2006/relationships/notesMaster" Target="/ppt/notesMasters/notesMaster1.xml" Id="R4bdb256297cd4e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a045b498bf4561" /><Relationship Type="http://schemas.openxmlformats.org/officeDocument/2006/relationships/notesMaster" Target="/ppt/notesMasters/notesMaster1.xml" Id="Reab90879f92844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797d581ab943c1" /><Relationship Type="http://schemas.openxmlformats.org/officeDocument/2006/relationships/notesMaster" Target="/ppt/notesMasters/notesMaster1.xml" Id="Rf7499d6e2a974b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f5521cf792c45f5" /><Relationship Type="http://schemas.openxmlformats.org/officeDocument/2006/relationships/notesMaster" Target="/ppt/notesMasters/notesMaster1.xml" Id="R29b81a9e98f547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a355f8b5784cf6" /><Relationship Type="http://schemas.openxmlformats.org/officeDocument/2006/relationships/notesMaster" Target="/ppt/notesMasters/notesMaster1.xml" Id="R57bd64f582914c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2fe425b00f4073" /><Relationship Type="http://schemas.openxmlformats.org/officeDocument/2006/relationships/notesMaster" Target="/ppt/notesMasters/notesMaster1.xml" Id="Rec9adb40d8344b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slide added for presentation use.</a:t>
            </a:r>
          </a:p>
          <a:p xmlns:a="http://schemas.openxmlformats.org/drawingml/2006/main">
            <a:r>
              <a:t>Track: FinTech &amp; Financial Inclusion.</a:t>
            </a:r>
          </a:p>
          <a:p xmlns:a="http://schemas.openxmlformats.org/drawingml/2006/main">
            <a:r>
              <a:t>Idea name: TrustBridge.</a:t>
            </a:r>
          </a:p>
          <a:p xmlns:a="http://schemas.openxmlformats.org/drawingml/2006/main">
            <a:r>
              <a:t>All nine content slides that follow retain their existing information.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slide 1 reproduced from the user-supplied reference PDF.</a:t>
            </a:r>
          </a:p>
          <a:p xmlns:a="http://schemas.openxmlformats.org/drawingml/2006/main">
            <a:r>
              <a:t>/Users/rydamsinghchauhan/Downloads/credit passport working (1).pdf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slide 2 reproduced from the user-supplied reference PDF.</a:t>
            </a:r>
          </a:p>
          <a:p xmlns:a="http://schemas.openxmlformats.org/drawingml/2006/main">
            <a:r>
              <a:t>/Users/rydamsinghchauhan/Downloads/credit passport working (1).pdf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slide 3 reproduced from the user-supplied reference PDF.</a:t>
            </a:r>
          </a:p>
          <a:p xmlns:a="http://schemas.openxmlformats.org/drawingml/2006/main">
            <a:r>
              <a:t>/Users/rydamsinghchauhan/Downloads/credit passport working (1).pdf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slide 4 reproduced from the user-supplied reference PDF.</a:t>
            </a:r>
          </a:p>
          <a:p xmlns:a="http://schemas.openxmlformats.org/drawingml/2006/main">
            <a:r>
              <a:t>/Users/rydamsinghchauhan/Downloads/credit passport working (1).pdf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slide 5 reproduced from the user-supplied reference PDF.</a:t>
            </a:r>
          </a:p>
          <a:p xmlns:a="http://schemas.openxmlformats.org/drawingml/2006/main">
            <a:r>
              <a:t>/Users/rydamsinghchauhan/Downloads/credit passport working (1).pdf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workflow proposed for the Cross-Border Financial Transition Assistant.</a:t>
            </a:r>
          </a:p>
          <a:p xmlns:a="http://schemas.openxmlformats.org/drawingml/2006/main">
            <a:r>
              <a:t>Banking and residency actions remain conditional on the user's facts and the institution's review.</a:t>
            </a:r>
          </a:p>
          <a:p xmlns:a="http://schemas.openxmlformats.org/drawingml/2006/main">
            <a:r>
              <a:t>RBI non-resident account FAQ: https://www.rbi.org.in/commonman/Upload/English/FAQs/PDFs/Accountresidents16012025.pdf</a:t>
            </a:r>
          </a:p>
          <a:p xmlns:a="http://schemas.openxmlformats.org/drawingml/2006/main">
            <a:r>
              <a:t>Income Tax Department non-resident guidance: https://www.incometax.gov.in/iec/foportal/help/all-topics/e-filing-services/non-resident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RBI Accounts in India by Non-residents FAQ, as on 16 January 2025: https://www.rbi.org.in/commonman/Upload/English/FAQs/PDFs/Accountresidents16012025.pdf</a:t>
            </a:r>
          </a:p>
          <a:p xmlns:a="http://schemas.openxmlformats.org/drawingml/2006/main">
            <a:r>
              <a:t>RBI FAQ page: https://m.rbi.org.in/commonman/English/Scripts/FAQs.aspx?Id=3</a:t>
            </a:r>
          </a:p>
          <a:p xmlns:a="http://schemas.openxmlformats.org/drawingml/2006/main">
            <a:r>
              <a:t>Income Tax Department non-resident guidance: https://www.incometax.gov.in/iec/foportal/help/all-topics/e-filing-services/non-resident</a:t>
            </a:r>
          </a:p>
          <a:p xmlns:a="http://schemas.openxmlformats.org/drawingml/2006/main">
            <a:r>
              <a:t>The guidance matrix summarizes common product roles. Banks and qualified professionals confirm the treatment for the user's specific 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Raj is a synthetic illustrative persona. No real customer's data is shown.</a:t>
            </a:r>
          </a:p>
          <a:p xmlns:a="http://schemas.openxmlformats.org/drawingml/2006/main">
            <a:r>
              <a:t>RBI non-resident account FAQ: https://www.rbi.org.in/commonman/Upload/English/FAQs/PDFs/Accountresidents16012025.pdf</a:t>
            </a:r>
          </a:p>
          <a:p xmlns:a="http://schemas.openxmlformats.org/drawingml/2006/main">
            <a:r>
              <a:t>Income Tax Department non-resident guidance: https://www.incometax.gov.in/iec/foportal/help/all-topics/e-filing-services/non-resident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operating model and responsibility boundary.</a:t>
            </a:r>
          </a:p>
          <a:p xmlns:a="http://schemas.openxmlformats.org/drawingml/2006/main">
            <a:r>
              <a:t>The regulated bank or lender retains KYC, account execution, product eligibility, credit approval, pricing, explanation and grievance responsibility.</a:t>
            </a:r>
          </a:p>
          <a:p xmlns:a="http://schemas.openxmlformats.org/drawingml/2006/main">
            <a:r>
              <a:t>TrustBridge should not collect passwords, PINs, OTPs or CVVs and should not hold or transfer customer funds.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773943b81145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6fc43515344caf" /><Relationship Type="http://schemas.openxmlformats.org/officeDocument/2006/relationships/slideLayout" Target="/ppt/slideLayouts/slideLayout1.xml" Id="R0c61ceca60054a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61ceca60054a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1b0e16dac43be" /><Relationship Type="http://schemas.openxmlformats.org/officeDocument/2006/relationships/notesSlide" Target="/ppt/notesSlides/notesSlide1.xml" Id="Rc2544216c98144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ffcefa26c4e17" /><Relationship Type="http://schemas.openxmlformats.org/officeDocument/2006/relationships/image" Target="/ppt/media/image.png" Id="Rc7d941990ceb4e5a" /><Relationship Type="http://schemas.openxmlformats.org/officeDocument/2006/relationships/notesSlide" Target="/ppt/notesSlides/notesSlide2.xml" Id="Rc3c809187b774d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dd640fc7540de" /><Relationship Type="http://schemas.openxmlformats.org/officeDocument/2006/relationships/image" Target="/ppt/media/image2.png" Id="R8d7c1518c1be4c73" /><Relationship Type="http://schemas.openxmlformats.org/officeDocument/2006/relationships/notesSlide" Target="/ppt/notesSlides/notesSlide3.xml" Id="R04cf9fd4f61445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956d235854644" /><Relationship Type="http://schemas.openxmlformats.org/officeDocument/2006/relationships/image" Target="/ppt/media/image3.png" Id="Rb84ac34f41284944" /><Relationship Type="http://schemas.openxmlformats.org/officeDocument/2006/relationships/notesSlide" Target="/ppt/notesSlides/notesSlide4.xml" Id="Rb4b61ba9bf0e4a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b251941834cc7" /><Relationship Type="http://schemas.openxmlformats.org/officeDocument/2006/relationships/image" Target="/ppt/media/image4.png" Id="Rc48d27b4e9f649c9" /><Relationship Type="http://schemas.openxmlformats.org/officeDocument/2006/relationships/notesSlide" Target="/ppt/notesSlides/notesSlide5.xml" Id="R053251035b8b46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4207c5acb4d90" /><Relationship Type="http://schemas.openxmlformats.org/officeDocument/2006/relationships/image" Target="/ppt/media/image5.png" Id="Rca08394b2b264624" /><Relationship Type="http://schemas.openxmlformats.org/officeDocument/2006/relationships/notesSlide" Target="/ppt/notesSlides/notesSlide6.xml" Id="Rd0cc7b14918742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540ab40394b6c" /><Relationship Type="http://schemas.openxmlformats.org/officeDocument/2006/relationships/notesSlide" Target="/ppt/notesSlides/notesSlide7.xml" Id="Ra5ec142f5a5346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5677d432b4902" /><Relationship Type="http://schemas.openxmlformats.org/officeDocument/2006/relationships/notesSlide" Target="/ppt/notesSlides/notesSlide8.xml" Id="R64f991836a8147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463620e6c43b2" /><Relationship Type="http://schemas.openxmlformats.org/officeDocument/2006/relationships/notesSlide" Target="/ppt/notesSlides/notesSlide9.xml" Id="R5447a3dd32a245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aa5b161044a6a" /><Relationship Type="http://schemas.openxmlformats.org/officeDocument/2006/relationships/notesSlide" Target="/ppt/notesSlides/notesSlide10.xml" Id="R91adc00c153c4c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2B6E5-1202-4AE5-A9D3-A1B63BFE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5947E"/>
                </a:solidFill>
                <a:latin typeface="LiberationSans"/>
                <a:ea typeface="LiberationSans"/>
                <a:cs typeface="LiberationSans"/>
              </a:defRPr>
            </a:pPr>
            <a:r>
              <a:rPr sz="900" b="1">
                <a:solidFill>
                  <a:srgbClr val="05947E"/>
                </a:solidFill>
                <a:latin typeface="LiberationSans"/>
                <a:ea typeface="LiberationSans"/>
                <a:cs typeface="LiberationSans"/>
              </a:rPr>
              <a:t>TRACK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C4D85-689D-4FBC-A469-0C677160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defRPr>
            </a:pPr>
            <a:r>
              <a:rPr sz="16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rPr>
              <a:t>FINTECH &amp; FINANCIAL INCLUSION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B3884-EC75-446E-9B67-673DD664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07812"/>
                </a:solidFill>
                <a:latin typeface="LiberationSans"/>
                <a:ea typeface="LiberationSans"/>
                <a:cs typeface="LiberationSans"/>
              </a:defRPr>
            </a:pPr>
            <a:r>
              <a:rPr sz="900" b="1">
                <a:solidFill>
                  <a:srgbClr val="D07812"/>
                </a:solidFill>
                <a:latin typeface="LiberationSans"/>
                <a:ea typeface="LiberationSans"/>
                <a:cs typeface="LiberationSans"/>
              </a:rPr>
              <a:t>IDEA NAME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89595-123D-446A-8708-1BABF345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8048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defRPr>
            </a:pPr>
            <a:r>
              <a:rPr sz="4575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rPr>
              <a:t>TRUSTBRIDGE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A966C-9F01-455C-A5AA-27F122D7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9CDF8"/>
                </a:solidFill>
                <a:latin typeface="LiberationSans"/>
                <a:ea typeface="LiberationSans"/>
                <a:cs typeface="LiberationSans"/>
              </a:defRPr>
            </a:pPr>
            <a:r>
              <a:rPr sz="2175" b="1">
                <a:solidFill>
                  <a:srgbClr val="B9CDF8"/>
                </a:solidFill>
                <a:latin typeface="LiberationSans"/>
                <a:ea typeface="LiberationSans"/>
                <a:cs typeface="LiberationSans"/>
              </a:rPr>
              <a:t>Portable Credit / Financial Passport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0E59D-B198-4F4A-B057-83DA5F7F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5C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001A5-7803-4D65-B814-9EB99ACA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defRPr>
            </a:pPr>
            <a:r>
              <a:rPr sz="13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rPr>
              <a:t>Cross-Border Financial Transition Assistant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0CEC3-24BE-4452-B8C0-1C5B3B8D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defRPr>
            </a:pPr>
            <a:r>
              <a:rPr sz="13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rPr>
              <a:t>NRI Banking, Tax &amp; Residency Guidance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A5EB1-35DD-49AE-97A4-6F8E666A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914400"/>
            <a:ext cx="20955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7C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65524-C7B8-400A-A3F5-33EBC9BA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381125"/>
            <a:ext cx="209550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47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834A97-123D-4F10-A7A9-A199204C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71675"/>
            <a:ext cx="20955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781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D7BD5-7159-46D4-BE1A-29C4C9BD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581275"/>
            <a:ext cx="209550" cy="288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1BA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199513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941990ceb4e5a"/>
          <a:stretch xmlns:a="http://schemas.openxmlformats.org/drawingml/2006/main"/>
        </p:blipFill>
        <p:spPr>
          <a:xfrm xmlns:a="http://schemas.openxmlformats.org/drawingml/2006/main">
            <a:off x="0" y="1071"/>
            <a:ext cx="12192000" cy="68558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306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c1518c1be4c73"/>
          <a:stretch xmlns:a="http://schemas.openxmlformats.org/drawingml/2006/main"/>
        </p:blipFill>
        <p:spPr>
          <a:xfrm xmlns:a="http://schemas.openxmlformats.org/drawingml/2006/main">
            <a:off x="0" y="1071"/>
            <a:ext cx="12192000" cy="68558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0056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4ac34f41284944"/>
          <a:stretch xmlns:a="http://schemas.openxmlformats.org/drawingml/2006/main"/>
        </p:blipFill>
        <p:spPr>
          <a:xfrm xmlns:a="http://schemas.openxmlformats.org/drawingml/2006/main">
            <a:off x="0" y="1071"/>
            <a:ext cx="12192000" cy="68558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3510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d27b4e9f649c9"/>
          <a:stretch xmlns:a="http://schemas.openxmlformats.org/drawingml/2006/main"/>
        </p:blipFill>
        <p:spPr>
          <a:xfrm xmlns:a="http://schemas.openxmlformats.org/drawingml/2006/main">
            <a:off x="0" y="1071"/>
            <a:ext cx="12192000" cy="68558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969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8394b2b264624"/>
          <a:stretch xmlns:a="http://schemas.openxmlformats.org/drawingml/2006/main"/>
        </p:blipFill>
        <p:spPr>
          <a:xfrm xmlns:a="http://schemas.openxmlformats.org/drawingml/2006/main">
            <a:off x="0" y="1071"/>
            <a:ext cx="12192000" cy="68558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0752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57F0166-CA4B-4E91-860B-BC159A34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47650"/>
            <a:ext cx="10744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2250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One assistant follows the worker through four financial transitions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014EC-632A-45A4-9563-FE93B4BF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85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1A2B7"/>
                </a:solidFill>
                <a:latin typeface="LiberationSans"/>
                <a:ea typeface="LiberationSans"/>
                <a:cs typeface="LiberationSans"/>
              </a:defRPr>
            </a:pPr>
            <a:r>
              <a:rPr sz="1200" b="1">
                <a:solidFill>
                  <a:srgbClr val="91A2B7"/>
                </a:solidFill>
                <a:latin typeface="LiberationSans"/>
                <a:ea typeface="LiberationSans"/>
                <a:cs typeface="Liberation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3E119-B64A-4C2A-9AB2-C4714D5F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885825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1575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Each life event refreshes the banking, residency, tax, remittance and evidence checklist. The assistant explains the next action and routes execution to the responsible institution.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3F93F-0B4E-41CC-8F98-A515FA42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438275"/>
            <a:ext cx="11306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11684-4B1F-44DB-B82C-B091CF01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95475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6EE80-CE09-4944-8151-B2A0FE8C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7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2144D-F504-4CF3-8E54-23F950F2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7430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57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Moving abroad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C8C6E-8FFF-4F1B-BB3F-A9F570C0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200275"/>
            <a:ext cx="2647950" cy="2714625"/>
          </a:xfrm>
          <a:prstGeom xmlns:a="http://schemas.openxmlformats.org/drawingml/2006/main" prst="roundRect">
            <a:avLst>
              <a:gd name="adj" fmla="val 1799"/>
            </a:avLst>
          </a:prstGeom>
          <a:solidFill xmlns:a="http://schemas.openxmlformats.org/drawingml/2006/main">
            <a:srgbClr val="EEF3FD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03124-39FE-4EB9-862F-D99217C4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52675"/>
            <a:ext cx="714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567C8"/>
                </a:solidFill>
                <a:latin typeface="LiberationSans"/>
                <a:ea typeface="LiberationSans"/>
                <a:cs typeface="LiberationSans"/>
              </a:defRPr>
            </a:pPr>
            <a:r>
              <a:rPr sz="750" b="1">
                <a:solidFill>
                  <a:srgbClr val="3567C8"/>
                </a:solidFill>
                <a:latin typeface="LiberationSans"/>
                <a:ea typeface="LiberationSans"/>
                <a:cs typeface="LiberationSans"/>
              </a:rPr>
              <a:t>TRIGGER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A8B7B-12EE-4A80-8A5A-DAEEC08D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33650"/>
            <a:ext cx="238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12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Offer accepted and departure date confirmed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80C9FA-802C-4855-979A-8801B012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09900"/>
            <a:ext cx="1123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750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FACTS COLLECTED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2EF602-CB50-4F81-9F91-BE775DF3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004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13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Destination, employer, contract, departure date, Indian accounts, loans, investments and dependants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4A687-B371-4E33-A52C-28EDA211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86200"/>
            <a:ext cx="1219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750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ACTIONS ACTIVATED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C85FC-2C98-4975-9B02-4F44DD6A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7670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13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Residency review, resident-account check, NRE/NRO options, KYC refresh, EMI continuity and remittance setup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C01339-2F30-4C38-9737-467345FE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0292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567C8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50" b="1">
                <a:solidFill>
                  <a:srgbClr val="3567C8"/>
                </a:solidFill>
                <a:latin typeface="LiberationSans"/>
                <a:ea typeface="LiberationSans"/>
                <a:cs typeface="LiberationSans"/>
              </a:rPr>
              <a:t>Departure checklist with documents, owner and due 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351BD-76E5-4C6D-AC9A-5A311E60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95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47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3C10A8-6543-4312-89F3-30807C70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7430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57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Living abroad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5FD212-18DB-4B40-A481-99EE57DE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00275"/>
            <a:ext cx="2647950" cy="2714625"/>
          </a:xfrm>
          <a:prstGeom xmlns:a="http://schemas.openxmlformats.org/drawingml/2006/main" prst="roundRect">
            <a:avLst>
              <a:gd name="adj" fmla="val 1799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E9B725-46FB-4955-BA1C-19376442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352675"/>
            <a:ext cx="714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5947E"/>
                </a:solidFill>
                <a:latin typeface="LiberationSans"/>
                <a:ea typeface="LiberationSans"/>
                <a:cs typeface="LiberationSans"/>
              </a:defRPr>
            </a:pPr>
            <a:r>
              <a:rPr sz="750" b="1">
                <a:solidFill>
                  <a:srgbClr val="05947E"/>
                </a:solidFill>
                <a:latin typeface="LiberationSans"/>
                <a:ea typeface="LiberationSans"/>
                <a:cs typeface="LiberationSans"/>
              </a:rPr>
              <a:t>TRIGGER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AFCBD1-92CF-47EA-A729-39457B44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533650"/>
            <a:ext cx="238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12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Employment and overseas income begin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EDC1BF-66D0-40B6-9E8D-3AD1E004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009900"/>
            <a:ext cx="1123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750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FACTS COLLECTED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1E1EF9-4B17-4452-A9D5-58CBE1E5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2004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13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Salary credits, employer status, remittances, Indian income, account use and days in India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3C57EE-0FB2-4CFA-BE7C-4CEE02E0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886200"/>
            <a:ext cx="1219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750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ACTIONS ACTIVATED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D12295-26A5-4799-84B4-D295C77E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07670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13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Track verified income, flag missing evidence, monitor account suitability and keep residency facts current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29D3FF-ABD7-4F3B-8BCA-52A24CF5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0292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947E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50" b="1">
                <a:solidFill>
                  <a:srgbClr val="05947E"/>
                </a:solidFill>
                <a:latin typeface="LiberationSans"/>
                <a:ea typeface="LiberationSans"/>
                <a:cs typeface="LiberationSans"/>
              </a:rPr>
              <a:t>Live plan plus an updated financial passport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BA752B-AD04-42FC-B6B9-3474265D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95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781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351CBD-605C-442C-837B-EB9538B3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7430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57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Job change or loss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CB9FBA-9609-45B3-81C8-60E0038B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200275"/>
            <a:ext cx="2647950" cy="2714625"/>
          </a:xfrm>
          <a:prstGeom xmlns:a="http://schemas.openxmlformats.org/drawingml/2006/main" prst="roundRect">
            <a:avLst>
              <a:gd name="adj" fmla="val 1799"/>
            </a:avLst>
          </a:prstGeom>
          <a:solidFill xmlns:a="http://schemas.openxmlformats.org/drawingml/2006/main">
            <a:srgbClr val="FBF0E4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1E0744-2E8E-4A41-8E46-302A9D69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52675"/>
            <a:ext cx="714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07812"/>
                </a:solidFill>
                <a:latin typeface="LiberationSans"/>
                <a:ea typeface="LiberationSans"/>
                <a:cs typeface="LiberationSans"/>
              </a:defRPr>
            </a:pPr>
            <a:r>
              <a:rPr sz="750" b="1">
                <a:solidFill>
                  <a:srgbClr val="D07812"/>
                </a:solidFill>
                <a:latin typeface="LiberationSans"/>
                <a:ea typeface="LiberationSans"/>
                <a:cs typeface="LiberationSans"/>
              </a:rPr>
              <a:t>TRIGGER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6466D1-0ABA-49D3-8FFB-8241605B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33650"/>
            <a:ext cx="238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12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Employer, contract or salary status changes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02F29F-C6E4-44C6-8111-3AC3BE4F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009900"/>
            <a:ext cx="1123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750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FACTS COLLECTED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41A646-3C8F-4043-8E8D-DF05AC94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2004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13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Last salary, end date, new employer, visa position, savings runway and continuing obligations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9A3EEB-E4C7-4AFB-BFAF-99C6BCE9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86200"/>
            <a:ext cx="1219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750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ACTIONS ACTIVATED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10CABF-7844-437E-84F3-080327EE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7670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13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Reprioritise EMIs, remittances and insurance, preserve proof of work, and prepare a new-job or return plan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ADE190-D214-4623-B44C-DBB121E2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0292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07812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50" b="1">
                <a:solidFill>
                  <a:srgbClr val="D07812"/>
                </a:solidFill>
                <a:latin typeface="LiberationSans"/>
                <a:ea typeface="LiberationSans"/>
                <a:cs typeface="LiberationSans"/>
              </a:rPr>
              <a:t>Urgent actions separated from optional actions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243865-C517-4237-A8A8-8133D3F0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95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1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rPr>
              <a:t>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D64675-98A7-4127-8C22-CA929C01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17430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57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Returning to India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244301B-A569-4963-A8BC-905A82F7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200275"/>
            <a:ext cx="2647950" cy="2714625"/>
          </a:xfrm>
          <a:prstGeom xmlns:a="http://schemas.openxmlformats.org/drawingml/2006/main" prst="roundRect">
            <a:avLst>
              <a:gd name="adj" fmla="val 1799"/>
            </a:avLst>
          </a:prstGeom>
          <a:solidFill xmlns:a="http://schemas.openxmlformats.org/drawingml/2006/main">
            <a:srgbClr val="F0ECF8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2F5DB2-1467-4555-80E3-06E12CE7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352675"/>
            <a:ext cx="714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51BA"/>
                </a:solidFill>
                <a:latin typeface="LiberationSans"/>
                <a:ea typeface="LiberationSans"/>
                <a:cs typeface="LiberationSans"/>
              </a:defRPr>
            </a:pPr>
            <a:r>
              <a:rPr sz="750" b="1">
                <a:solidFill>
                  <a:srgbClr val="7351BA"/>
                </a:solidFill>
                <a:latin typeface="LiberationSans"/>
                <a:ea typeface="LiberationSans"/>
                <a:cs typeface="LiberationSans"/>
              </a:rPr>
              <a:t>TRIGGER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6AE5C7-1837-4099-8A15-7BC7AD85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533650"/>
            <a:ext cx="238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12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Temporary or permanent return is planned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1C9D58-A8E8-4EF8-8031-AE45F2CA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009900"/>
            <a:ext cx="1123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750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FACTS COLLECTED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AF9261-C2EE-47D3-AA32-834EF16C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20040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13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Return date, intended stay, foreign balances, continuing overseas income and Indian account inventory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A617AE-7036-4024-8757-A30BC077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886200"/>
            <a:ext cx="1219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750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ACTIONS ACTIVATED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5E493D-48F9-4012-90E0-7883F119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07670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13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Reassess FEMA and tax status, review NRE/NRO/FCNR(B), consider RFC eligibility and update KYC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8054B8-4BB9-4088-A044-2072C79A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0292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351B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50" b="1">
                <a:solidFill>
                  <a:srgbClr val="7351BA"/>
                </a:solidFill>
                <a:latin typeface="LiberationSans"/>
                <a:ea typeface="LiberationSans"/>
                <a:cs typeface="LiberationSans"/>
              </a:rPr>
              <a:t>Return checklist and bank-ready evidence pack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67B92CB-7D39-4297-8C62-0DABFC36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543550"/>
            <a:ext cx="3524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7C8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87702E-5069-4EBE-BE9C-9EC2465D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657850"/>
            <a:ext cx="2647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27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Life-event trigger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857801-CDBC-45B5-8762-96F33AFF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92455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The user reports a move, job event or return. Connected data can confirm dates and financial activity.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6A5033-8F81-4AFE-9DF9-C3D10531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14975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75B1DD6-9565-4949-BBCF-CD942484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543550"/>
            <a:ext cx="3524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47E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08DCD72-8D88-4CD4-B1B9-1BAF089F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657850"/>
            <a:ext cx="2647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27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Versioned rule engine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401D2DF-73E0-4EC4-A05E-58CDC749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92455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Approved rules evaluate the user facts. AI explains the result but does not invent the rule.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0F4E74-D27A-406F-AE2B-924DD860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514975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4DBFBF-B537-47A2-91A1-FCA70984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543550"/>
            <a:ext cx="3524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7812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CC3FE41-0CFA-4495-9BFF-06E063F8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657850"/>
            <a:ext cx="2647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27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Trust Receipt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7BB37D2-6CF7-49A6-99FD-91E9AC6B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92455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Every recommendation records the facts used, source, policy version, missing information and next owner.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4A743DF-1AE3-4EE2-8692-3F642B54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514975"/>
            <a:ext cx="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E667CCF-B65E-424F-B670-171E62DA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543550"/>
            <a:ext cx="3524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1BA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543054E-6447-4EB9-9C27-E0F4A208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657850"/>
            <a:ext cx="2647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27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Institutional handoff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152FDA-9011-43C4-A83A-D4AE2985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92455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The bank executes account changes. A qualified professional handles complex tax or legal interpretation.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23E745-5701-44E0-AABD-88B78AC3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581775"/>
            <a:ext cx="11306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2EEE898-D0BF-40C1-A356-08BE3327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648450"/>
            <a:ext cx="10953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1A2B7"/>
                </a:solidFill>
                <a:latin typeface="LiberationSans"/>
                <a:ea typeface="LiberationSans"/>
                <a:cs typeface="LiberationSans"/>
              </a:defRPr>
            </a:pPr>
            <a:r>
              <a:rPr sz="788" b="0">
                <a:solidFill>
                  <a:srgbClr val="91A2B7"/>
                </a:solidFill>
                <a:latin typeface="LiberationSans"/>
                <a:ea typeface="LiberationSans"/>
                <a:cs typeface="LiberationSans"/>
              </a:rPr>
              <a:t>Proposed product workflow. Completing a checklist does not change the financial-passport score or guarantee a financial product.</a:t>
            </a:r>
          </a:p>
        </p:txBody>
      </p:sp>
    </p:spTree>
    <p:extLst>
      <p:ext uri="{BB962C8B-B14F-4D97-AF65-F5344CB8AC3E}">
        <p14:creationId xmlns:p14="http://schemas.microsoft.com/office/powerpoint/2010/main" val="18868359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92D485E-1FB7-4CB3-9CA6-75BC2734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47650"/>
            <a:ext cx="10744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2400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Banking, FEMA and tax status are evaluated separately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39B0C-D6FB-4062-B5AB-04A3FB63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85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1A2B7"/>
                </a:solidFill>
                <a:latin typeface="LiberationSans"/>
                <a:ea typeface="LiberationSans"/>
                <a:cs typeface="LiberationSans"/>
              </a:defRPr>
            </a:pPr>
            <a:r>
              <a:rPr sz="1200" b="1">
                <a:solidFill>
                  <a:srgbClr val="91A2B7"/>
                </a:solidFill>
                <a:latin typeface="LiberationSans"/>
                <a:ea typeface="LiberationSans"/>
                <a:cs typeface="Liberation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98C18-A803-4EEE-B10E-E17FB01A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885825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1575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The same person can have different classifications under FEMA, tax law and bank-product rules. The platform keeps those tracks separate and produces conditional guidance rather than a single NRI label.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5E1D3-95DB-47C4-9A24-5A88C144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438275"/>
            <a:ext cx="11306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8BDC5-06A5-4B45-82D0-48AD0015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38300"/>
            <a:ext cx="47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47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064A9-01D2-4CDF-8FA2-1C0E571A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28775"/>
            <a:ext cx="396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5947E"/>
                </a:solidFill>
                <a:latin typeface="LiberationSans"/>
                <a:ea typeface="LiberationSans"/>
                <a:cs typeface="LiberationSans"/>
              </a:defRPr>
            </a:pPr>
            <a:r>
              <a:rPr sz="975" b="1">
                <a:solidFill>
                  <a:srgbClr val="05947E"/>
                </a:solidFill>
                <a:latin typeface="LiberationSans"/>
                <a:ea typeface="LiberationSans"/>
                <a:cs typeface="LiberationSans"/>
              </a:rPr>
              <a:t>THREE INDEPENDENT STATUS TRACKS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95A4C-A47A-40D3-B98C-49BA6EF6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000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7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30CFB6-45F5-451C-94CF-5B0C2004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097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500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FEMA residence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45682-B907-4FF8-8533-F0476763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95525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8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Determines whether the person is resident in India or resident outside India for foreign-exchange rules.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A5DE5-B656-4F7D-AE9D-D7AF2398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3857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7C8"/>
                </a:solidFill>
                <a:latin typeface="LiberationSans"/>
                <a:ea typeface="LiberationSans"/>
                <a:cs typeface="LiberationSans"/>
              </a:defRPr>
            </a:pPr>
            <a:r>
              <a:rPr sz="900" b="1">
                <a:solidFill>
                  <a:srgbClr val="3567C8"/>
                </a:solidFill>
                <a:latin typeface="LiberationSans"/>
                <a:ea typeface="LiberationSans"/>
                <a:cs typeface="LiberationSans"/>
              </a:rPr>
              <a:t>Inputs: purpose of departure, intended stay, return circumstances and current facts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E84AF-9A28-48BF-9DFF-E0505844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028950"/>
            <a:ext cx="4391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8161D-8A26-4D1B-9FAA-A6AE8708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067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47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BC3C9-2471-48BC-8323-42376916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765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500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Tax residence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84640-789C-4C3E-B758-8FD0BDBC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62325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8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Determined for each tax year from day counts and applicable statutory conditions.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1F9217-599C-4A5D-B424-A01473B6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81425"/>
            <a:ext cx="3857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5947E"/>
                </a:solidFill>
                <a:latin typeface="LiberationSans"/>
                <a:ea typeface="LiberationSans"/>
                <a:cs typeface="LiberationSans"/>
              </a:defRPr>
            </a:pPr>
            <a:r>
              <a:rPr sz="900" b="1">
                <a:solidFill>
                  <a:srgbClr val="05947E"/>
                </a:solidFill>
                <a:latin typeface="LiberationSans"/>
                <a:ea typeface="LiberationSans"/>
                <a:cs typeface="LiberationSans"/>
              </a:rPr>
              <a:t>Inputs: India stay calendar, prior-year history and relevant income facts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068A5A-79AE-4ACD-BBD4-37A548DB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0"/>
            <a:ext cx="4391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A1874A-7B42-47BD-AF23-3C4F5B7D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133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781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678621-7ACC-4157-91D1-70E6ED95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433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500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Account 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B521F5-B751-494A-9430-175ECE5D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3857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8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Each account must match the holder's status and the account's permitted purpose.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3B136B-2687-41E3-81A4-0E060296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48225"/>
            <a:ext cx="3857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07812"/>
                </a:solidFill>
                <a:latin typeface="LiberationSans"/>
                <a:ea typeface="LiberationSans"/>
                <a:cs typeface="LiberationSans"/>
              </a:defRPr>
            </a:pPr>
            <a:r>
              <a:rPr sz="900" b="1">
                <a:solidFill>
                  <a:srgbClr val="D07812"/>
                </a:solidFill>
                <a:latin typeface="LiberationSans"/>
                <a:ea typeface="LiberationSans"/>
                <a:cs typeface="LiberationSans"/>
              </a:rPr>
              <a:t>Inputs: account inventory, source of funds, currency, tenure and bank records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766856-1716-4E4B-B5E0-F49B6CA3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28775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D04495-1C15-44C9-BCC3-562897B0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38300"/>
            <a:ext cx="47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7C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A2D215-3606-474A-8D77-CE86E1D2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628775"/>
            <a:ext cx="605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67C8"/>
                </a:solidFill>
                <a:latin typeface="LiberationSans"/>
                <a:ea typeface="LiberationSans"/>
                <a:cs typeface="LiberationSans"/>
              </a:defRPr>
            </a:pPr>
            <a:r>
              <a:rPr sz="975" b="1">
                <a:solidFill>
                  <a:srgbClr val="3567C8"/>
                </a:solidFill>
                <a:latin typeface="LiberationSans"/>
                <a:ea typeface="LiberationSans"/>
                <a:cs typeface="LiberationSans"/>
              </a:rPr>
              <a:t>ACCOUNT GUIDANCE MATRIX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757D94-099D-42F8-96D8-F2564D09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52625"/>
            <a:ext cx="6191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F290AC-41BD-45B2-8E32-30AF26D3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574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rPr>
              <a:t>Account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1E3E6A-55DC-47BE-9E9B-ED50541F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5740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rPr>
              <a:t>Typical role while non-resident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518FA0-CD39-4A6B-B260-F0858A4A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57400"/>
            <a:ext cx="2343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rPr>
              <a:t>Return or status-change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BF008E-232E-4C6F-B657-BA9C3EF7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6220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718AD3-AF4F-4D1A-836A-06335C28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220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D20F1F-C063-49A5-9455-B4595048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6220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25129C-DC3E-469C-BFAC-FA114815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527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67C8"/>
                </a:solidFill>
                <a:latin typeface="LiberationSans"/>
                <a:ea typeface="LiberationSans"/>
                <a:cs typeface="LiberationSans"/>
              </a:defRPr>
            </a:pPr>
            <a:r>
              <a:rPr sz="1350" b="1">
                <a:solidFill>
                  <a:srgbClr val="3567C8"/>
                </a:solidFill>
                <a:latin typeface="LiberationSans"/>
                <a:ea typeface="LiberationSans"/>
                <a:cs typeface="LiberationSans"/>
              </a:rPr>
              <a:t>NRE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36101D-5B13-42A5-B091-9A2590F1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5745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75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Rupee account for eligible funds from outside India and permitted credits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7E8A26-4F62-4FB1-A61C-C96CE3C6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57450"/>
            <a:ext cx="234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75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Review immediately. Bank may redesignate it as a resident account or transfer eligible funds to RFC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E8BC28-E34C-4387-A0E8-00D6E3D3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289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2287AA-BF35-4C93-8001-3650F161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289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A0D888-E5BC-45CE-9F98-C163EB8A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289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99B86D-E5BD-4CEC-8F25-3DA54609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194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947E"/>
                </a:solidFill>
                <a:latin typeface="LiberationSans"/>
                <a:ea typeface="LiberationSans"/>
                <a:cs typeface="LiberationSans"/>
              </a:defRPr>
            </a:pPr>
            <a:r>
              <a:rPr sz="1350" b="1">
                <a:solidFill>
                  <a:srgbClr val="05947E"/>
                </a:solidFill>
                <a:latin typeface="LiberationSans"/>
                <a:ea typeface="LiberationSans"/>
                <a:cs typeface="LiberationSans"/>
              </a:rPr>
              <a:t>NRO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D243BE-1776-4473-A208-537DB009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2420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75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Rupee account often used for permitted India-source receipts and redesignated resident accounts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432C4B-EAD2-48FE-99A4-2ABF24E5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24200"/>
            <a:ext cx="234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75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Review continuing India income, tax documentation and repatriation requirements with the bank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5F921B-B529-401E-AF2F-F6E4AE6F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9570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165015-1B83-4D6D-964A-2C7277FB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9570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47DE32-0C8B-463B-B5D3-DB3B11B3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9570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7F86AA-D5F3-405D-BD98-C83F45EA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862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07812"/>
                </a:solidFill>
                <a:latin typeface="LiberationSans"/>
                <a:ea typeface="LiberationSans"/>
                <a:cs typeface="LiberationSans"/>
              </a:defRPr>
            </a:pPr>
            <a:r>
              <a:rPr sz="1350" b="1">
                <a:solidFill>
                  <a:srgbClr val="D07812"/>
                </a:solidFill>
                <a:latin typeface="LiberationSans"/>
                <a:ea typeface="LiberationSans"/>
                <a:cs typeface="LiberationSans"/>
              </a:rPr>
              <a:t>FCNR(B)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B61BEF-EB84-477B-9991-7CD093F8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9095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75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Foreign-currency term deposit for eligible non-resident depositors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EAC867-6D5A-47F1-930B-012EFCD5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90950"/>
            <a:ext cx="234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75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Bank confirms treatment after return and at maturity based on account terms and status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3713D5-95CC-40E9-9DCB-B154CA49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3624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9F51D2-E287-4698-BCF1-E5D20CB8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624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281ED4-2600-4245-9C08-EAB2CED9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624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DC05BE-84D6-448B-837D-A88E6CFD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529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351B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350" b="1">
                <a:solidFill>
                  <a:srgbClr val="7351BA"/>
                </a:solidFill>
                <a:latin typeface="LiberationSans"/>
                <a:ea typeface="LiberationSans"/>
                <a:cs typeface="LiberationSans"/>
              </a:rPr>
              <a:t>RFC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11B58A7-16D8-46B5-8D38-88B858BC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5770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75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Resident foreign-currency account for eligible returning residents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D9D8E3-E4D0-4161-BA28-22762BA5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57700"/>
            <a:ext cx="234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75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Assess eligibility and which foreign-currency balances can move into the account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B43F39-9765-4F58-940C-C6C05D2E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143500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07812"/>
                </a:solidFill>
                <a:latin typeface="LiberationSans"/>
                <a:ea typeface="LiberationSans"/>
                <a:cs typeface="LiberationSans"/>
              </a:defRPr>
            </a:pPr>
            <a:r>
              <a:rPr sz="975" b="1">
                <a:solidFill>
                  <a:srgbClr val="D07812"/>
                </a:solidFill>
                <a:latin typeface="LiberationSans"/>
                <a:ea typeface="LiberationSans"/>
                <a:cs typeface="LiberationSans"/>
              </a:rPr>
              <a:t>The account name alone does not determine tax treatment. The platform shows conditions, effective date, source and escalation path.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68B9FF4-23A6-4F0F-9C38-E2A5B937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486400"/>
            <a:ext cx="47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1BA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3C8E69-8824-4DD6-8A7D-90A4C52A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76875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51BA"/>
                </a:solidFill>
                <a:latin typeface="LiberationSans"/>
                <a:ea typeface="LiberationSans"/>
                <a:cs typeface="LiberationSans"/>
              </a:defRPr>
            </a:pPr>
            <a:r>
              <a:rPr sz="975" b="1">
                <a:solidFill>
                  <a:srgbClr val="7351BA"/>
                </a:solidFill>
                <a:latin typeface="LiberationSans"/>
                <a:ea typeface="LiberationSans"/>
                <a:cs typeface="LiberationSans"/>
              </a:rPr>
              <a:t>HOW THE GUIDANCE IS PRODUCED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9335768-D146-4268-8EF1-845B144C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781675"/>
            <a:ext cx="2076450" cy="638175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EEF3FD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DF18EEB-2399-42B3-A377-5A58BC24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8769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67C8"/>
                </a:solidFill>
                <a:latin typeface="LiberationSans"/>
                <a:ea typeface="LiberationSans"/>
                <a:cs typeface="LiberationSans"/>
              </a:defRPr>
            </a:pPr>
            <a:r>
              <a:rPr sz="825" b="1">
                <a:solidFill>
                  <a:srgbClr val="3567C8"/>
                </a:solidFill>
                <a:latin typeface="LiberationSans"/>
                <a:ea typeface="LiberationSans"/>
                <a:cs typeface="LiberationSans"/>
              </a:rPr>
              <a:t>01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614CC36-1850-44A8-ADEB-11B4DD5A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8483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12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Collect facts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5D9A7CD-2790-495D-821B-3F02E858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096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863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Dates, purpose, accounts and income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1241918-EECA-428A-A6C0-12A32C4C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781675"/>
            <a:ext cx="2076450" cy="638175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D322EC1-CF64-4387-BBAF-E89C6EE6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8769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5947E"/>
                </a:solidFill>
                <a:latin typeface="LiberationSans"/>
                <a:ea typeface="LiberationSans"/>
                <a:cs typeface="LiberationSans"/>
              </a:defRPr>
            </a:pPr>
            <a:r>
              <a:rPr sz="825" b="1">
                <a:solidFill>
                  <a:srgbClr val="05947E"/>
                </a:solidFill>
                <a:latin typeface="LiberationSans"/>
                <a:ea typeface="LiberationSans"/>
                <a:cs typeface="LiberationSans"/>
              </a:rPr>
              <a:t>02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9480B17-16D2-4A13-9CEB-60DD11D1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8483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12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Classify tracks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BE015BC-F480-4931-8D8C-FB48DB2E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6096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863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FEMA, tax and account status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A3EDB70-7731-4711-8298-A66C6E53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5781675"/>
            <a:ext cx="2076450" cy="638175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BF0E4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22C291A-3D23-41A8-BCFD-07715CBE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58769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07812"/>
                </a:solidFill>
                <a:latin typeface="LiberationSans"/>
                <a:ea typeface="LiberationSans"/>
                <a:cs typeface="LiberationSans"/>
              </a:defRPr>
            </a:pPr>
            <a:r>
              <a:rPr sz="825" b="1">
                <a:solidFill>
                  <a:srgbClr val="D07812"/>
                </a:solidFill>
                <a:latin typeface="LiberationSans"/>
                <a:ea typeface="LiberationSans"/>
                <a:cs typeface="LiberationSans"/>
              </a:rPr>
              <a:t>03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67AF7EA-4B29-404D-870A-EE125ED7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8483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12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Apply rules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C0E0622-A587-43CB-9EDC-66520124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096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863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Versioned official-source logic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2EBFAE3-FEB0-4860-BD7C-C3B95D31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5781675"/>
            <a:ext cx="2076450" cy="638175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0ECF8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4EF2645-69DE-4817-9E10-0C51E3FA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8769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351BA"/>
                </a:solidFill>
                <a:latin typeface="LiberationSans"/>
                <a:ea typeface="LiberationSans"/>
                <a:cs typeface="LiberationSans"/>
              </a:defRPr>
            </a:pPr>
            <a:r>
              <a:rPr sz="825" b="1">
                <a:solidFill>
                  <a:srgbClr val="7351BA"/>
                </a:solidFill>
                <a:latin typeface="LiberationSans"/>
                <a:ea typeface="LiberationSans"/>
                <a:cs typeface="LiberationSans"/>
              </a:rPr>
              <a:t>04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3C830AB-AB5C-4408-8B05-4BD76756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8483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12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Create plan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C08A7AC-3DE3-4521-B627-4B986121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096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863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Priority, documents and deadlines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B628DF9-9949-4D91-8510-84E100FC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5781675"/>
            <a:ext cx="2076450" cy="638175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68A0834-F166-44AE-AB8D-55AE0ED2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58769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825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05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7FE9150-EE26-4C02-B7FD-1E084BD7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8483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12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Handoff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67A5724-EADB-4A02-865B-C2476C8D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6096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863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Bank or qualified professional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9AF3099-625A-425D-82D8-EC1116AA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581775"/>
            <a:ext cx="11306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65786FE-ECEC-45D6-81C3-FC945C00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648450"/>
            <a:ext cx="10953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1A2B7"/>
                </a:solidFill>
                <a:latin typeface="LiberationSans"/>
                <a:ea typeface="LiberationSans"/>
                <a:cs typeface="LiberationSans"/>
              </a:defRPr>
            </a:pPr>
            <a:r>
              <a:rPr sz="788" b="0">
                <a:solidFill>
                  <a:srgbClr val="91A2B7"/>
                </a:solidFill>
                <a:latin typeface="LiberationSans"/>
                <a:ea typeface="LiberationSans"/>
                <a:cs typeface="LiberationSans"/>
              </a:rPr>
              <a:t>Sources: RBI Accounts in India by Non-residents FAQ, 16 Jan 2025, and Income Tax Department non-resident guidance. Links in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20088378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E753688-822B-4B87-A63B-51E0FE76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47650"/>
            <a:ext cx="10744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2250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Raj's five-year India-Saudi journey produces one continuous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D8583-4925-459B-A80D-82CDF240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85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1A2B7"/>
                </a:solidFill>
                <a:latin typeface="LiberationSans"/>
                <a:ea typeface="LiberationSans"/>
                <a:cs typeface="LiberationSans"/>
              </a:defRPr>
            </a:pPr>
            <a:r>
              <a:rPr sz="1200" b="1">
                <a:solidFill>
                  <a:srgbClr val="91A2B7"/>
                </a:solidFill>
                <a:latin typeface="LiberationSans"/>
                <a:ea typeface="LiberationSans"/>
                <a:cs typeface="Liberation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D4A17-F3FB-419B-9137-C894F848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885825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1575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Illustrative case: Raj is an Indian construction worker, sends money to his family each month and returns permanently after five years. The platform updates the plan whenever his circumstances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F679F-BE58-481E-A5A3-08ECF216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438275"/>
            <a:ext cx="11306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9BFA5-3894-4D5C-9CC8-8D639087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6336A-CA63-4E3F-979F-17D9F0F3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7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59649-397B-4114-92E1-7C0EB26A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81175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567C8"/>
                </a:solidFill>
                <a:latin typeface="LiberationSans"/>
                <a:ea typeface="LiberationSans"/>
                <a:cs typeface="LiberationSans"/>
              </a:defRPr>
            </a:pPr>
            <a:r>
              <a:rPr sz="1275" b="1">
                <a:solidFill>
                  <a:srgbClr val="3567C8"/>
                </a:solidFill>
                <a:latin typeface="LiberationSans"/>
                <a:ea typeface="LiberationSans"/>
                <a:cs typeface="LiberationSans"/>
              </a:rPr>
              <a:t>Before departure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F5C4C-5942-48C6-93C4-BE29BE14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228850"/>
            <a:ext cx="2095500" cy="29908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EEF3FD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D24AC-7D64-4B14-B7A1-B146A867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42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Build the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75FBA-4972-4648-918E-FF034C3D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713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INFORMATION CAPTURED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BB858-3357-4389-8BED-96A5635B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847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90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Collect passport, employment contract, departure date, bank accounts, EMIs, dependants and expected salary.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EB5A7F-8BE0-4B40-B8AD-8EAE185E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14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713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SYSTEM RESPONSE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DCF4DD-A028-4533-B7AC-4B2AFD4F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847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90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Create the departure checklist. Flag account-status review, KYC, insurance, nominations and remittance setup.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432CD3-C17C-4722-AFBE-13796B5C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43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47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9AC902-6D4E-43B7-B14A-00896EC0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781175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5947E"/>
                </a:solidFill>
                <a:latin typeface="LiberationSans"/>
                <a:ea typeface="LiberationSans"/>
                <a:cs typeface="LiberationSans"/>
              </a:defRPr>
            </a:pPr>
            <a:r>
              <a:rPr sz="1275" b="1">
                <a:solidFill>
                  <a:srgbClr val="05947E"/>
                </a:solidFill>
                <a:latin typeface="LiberationSans"/>
                <a:ea typeface="LiberationSans"/>
                <a:cs typeface="LiberationSans"/>
              </a:rPr>
              <a:t>Arrival in Saudi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AB0054-98C2-42FE-9527-061A3950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228850"/>
            <a:ext cx="2095500" cy="29908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B8A698-0D52-45D0-91A2-093D5C40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71725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42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Activate non-resident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02B81F-0A8E-43B1-9679-AA33D857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527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713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INFORMATION CAPTURED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303061-D247-450A-A229-84E2A032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1847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90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Confirm employment start, salary account, first salary and remittance channel. Record actual days outside India.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217F49-190A-4D1C-B85F-2CD6E95C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38600"/>
            <a:ext cx="114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713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SYSTEM RESPONSE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D6214B-3E39-484E-8313-2F38392B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29100"/>
            <a:ext cx="1847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90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Explain NRE and NRO options. Prepare documents for bank confirmation and any resident-account redesignation.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820D9C-EAAA-4DE1-9487-88F5D6B0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43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1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3D642B-C373-4E01-9E00-85219CD4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781175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351B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275" b="1">
                <a:solidFill>
                  <a:srgbClr val="7351BA"/>
                </a:solidFill>
                <a:latin typeface="LiberationSans"/>
                <a:ea typeface="LiberationSans"/>
                <a:cs typeface="LiberationSans"/>
              </a:rPr>
              <a:t>Years 1 to 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A48D9C-2144-4453-8748-FE4B0FCE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28850"/>
            <a:ext cx="2095500" cy="29908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0ECF8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2016A5-5852-42E7-854F-0F420F48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71725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42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Preserve verified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5F2E2E-6028-479E-936B-5EFBEF2A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527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713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INFORMATION CAPTURED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C1CA3A-97E2-4032-A3EA-A4E6C1C9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43250"/>
            <a:ext cx="1847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90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Track consented salary credits, employer continuity, remittances, loan payments, cash flow and gaps in evidence.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E31CA6-9E54-4307-8BEF-5D2E5F6F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38600"/>
            <a:ext cx="114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713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SYSTEM RESPONSE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DEB416-E615-4416-82F9-33721CF5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29100"/>
            <a:ext cx="1847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90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Refresh the passport and show the source, period, currency, verification level and missing months for each claim.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4D8035-75AC-407E-95C0-FCE7C956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43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781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BE4DF2-5FE2-4161-98A2-52D39225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781175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07812"/>
                </a:solidFill>
                <a:latin typeface="LiberationSans"/>
                <a:ea typeface="LiberationSans"/>
                <a:cs typeface="LiberationSans"/>
              </a:defRPr>
            </a:pPr>
            <a:r>
              <a:rPr sz="1275" b="1">
                <a:solidFill>
                  <a:srgbClr val="D07812"/>
                </a:solidFill>
                <a:latin typeface="LiberationSans"/>
                <a:ea typeface="LiberationSans"/>
                <a:cs typeface="LiberationSans"/>
              </a:rPr>
              <a:t>Job ends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99371B-CB7B-4948-A88F-91E42B63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228850"/>
            <a:ext cx="2095500" cy="29908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BF0E4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096041-8ABD-4D09-A4F7-BAAE54E3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71725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42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Switch to shock plan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8672BE-7688-4617-A2BF-ED0B2B06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527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713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INFORMATION CAPTURED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B4BCF1-6D5D-4527-9346-2A5F0169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43250"/>
            <a:ext cx="1847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90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Record the final salary, contract end, severance evidence, remaining savings and continuing family obligations.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5A5ECB-8734-4F7D-90E5-E2728588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38600"/>
            <a:ext cx="114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713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SYSTEM RESPONSE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991F45-781F-490E-82C1-9E0CF0D3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29100"/>
            <a:ext cx="1847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90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Prioritise EMIs and essential remittances. Preserve proof of employment and prepare new-job and return scenarios.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B53619-A2EE-4C67-B860-7DBAFF9B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43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67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rPr>
              <a:t>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14DCDF-A970-40E9-B612-A31F054E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1781175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567C8"/>
                </a:solidFill>
                <a:latin typeface="LiberationSans"/>
                <a:ea typeface="LiberationSans"/>
                <a:cs typeface="LiberationSans"/>
              </a:defRPr>
            </a:pPr>
            <a:r>
              <a:rPr sz="1275" b="1">
                <a:solidFill>
                  <a:srgbClr val="3567C8"/>
                </a:solidFill>
                <a:latin typeface="LiberationSans"/>
                <a:ea typeface="LiberationSans"/>
                <a:cs typeface="LiberationSans"/>
              </a:rPr>
              <a:t>Return in year 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D63D87-CEFF-4AAF-AF13-9CA0C275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228850"/>
            <a:ext cx="2095500" cy="29908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EEF3FD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6FA97A-18B2-4999-8FBF-0065856A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71725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42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Complete the return plan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D7FB97-B93F-4E8B-A8CE-80243875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52750"/>
            <a:ext cx="142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713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INFORMATION CAPTURED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C0BBA7-36E0-440D-9584-8F8C1631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43250"/>
            <a:ext cx="1847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90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Confirm permanent return date, foreign balances, continuing overseas income and current Indian accounts.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DF2A15-E35C-4861-B00F-7BA55F34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38600"/>
            <a:ext cx="114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713" b="1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SYSTEM RESPONSE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9290B2-B625-4899-962F-E6097D5E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229100"/>
            <a:ext cx="1847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90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Reassess FEMA and tax status. Review NRE, NRO and FCNR(B), consider RFC eligibility, and update bank KYC.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8A55FF3-702C-442D-AB7C-BFA2E422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457825"/>
            <a:ext cx="3524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7C8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FD397A-3C47-4D30-86AC-671019A0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581650"/>
            <a:ext cx="2647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27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One verified history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EAF79E-FE1D-4735-A99C-A54D1ADB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857875"/>
            <a:ext cx="2647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Five years of work and remittances remain connected to Raj's identity instead of staying in separate documents.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280ADD1-D85A-470E-BF25-7BB54B92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429250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DF6515-38B4-4546-BAC6-7C2AAA71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457825"/>
            <a:ext cx="3524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47E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582C0C3-F545-4641-B827-700754CE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581650"/>
            <a:ext cx="2647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27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Actions match the stage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484A8E-7C20-47C9-8347-CBD4C428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857875"/>
            <a:ext cx="2647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Raj sees only the tasks activated by his current move, employment event or return decision.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D54F6C-92B6-43B2-A7EF-AE66299B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29250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02E60A9-5E7E-43D1-8614-EE9D0584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457825"/>
            <a:ext cx="3524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7812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46622A6-5BB5-4790-9F13-5E4E554F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581650"/>
            <a:ext cx="2647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27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Bank-ready handoff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E78E72-6973-437C-B44D-3D55A92C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857875"/>
            <a:ext cx="2647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The bank receives an organised fact set and document list. It retains KYC and account-conversion authority.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9363780-CC48-4131-A849-A5D802AF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429250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990C6AA-B560-4F9C-989C-125F72FA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457825"/>
            <a:ext cx="3524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1BA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D900539-C4F3-4213-99B6-30BCC801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581650"/>
            <a:ext cx="2647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275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No automatic credit promise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1208ADF-04F7-406F-9F55-C03A4012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857875"/>
            <a:ext cx="2647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The passport preserves evidence. A lender independently decides whether it supports eligibility or pricing.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472D036-7E84-4291-8678-63FC4334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581775"/>
            <a:ext cx="11306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975E0F3-55BB-483E-A348-CC21CAE8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648450"/>
            <a:ext cx="10953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1A2B7"/>
                </a:solidFill>
                <a:latin typeface="LiberationSans"/>
                <a:ea typeface="LiberationSans"/>
                <a:cs typeface="LiberationSans"/>
              </a:defRPr>
            </a:pPr>
            <a:r>
              <a:rPr sz="788" b="0">
                <a:solidFill>
                  <a:srgbClr val="91A2B7"/>
                </a:solidFill>
                <a:latin typeface="LiberationSans"/>
                <a:ea typeface="LiberationSans"/>
                <a:cs typeface="LiberationSans"/>
              </a:rPr>
              <a:t>Illustrative persona and workflow. Actual account, residency and tax treatment depends on Raj's facts, effective rules and institutional review.</a:t>
            </a:r>
          </a:p>
        </p:txBody>
      </p:sp>
    </p:spTree>
    <p:extLst>
      <p:ext uri="{BB962C8B-B14F-4D97-AF65-F5344CB8AC3E}">
        <p14:creationId xmlns:p14="http://schemas.microsoft.com/office/powerpoint/2010/main" val="7120896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E5C984C-8DB5-4EA6-99DA-973E8C7D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47650"/>
            <a:ext cx="10744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2250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The product coordinates the journey while institutions retain authority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7F872-203A-46A8-8DC4-8B8BA0E6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85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1A2B7"/>
                </a:solidFill>
                <a:latin typeface="LiberationSans"/>
                <a:ea typeface="LiberationSans"/>
                <a:cs typeface="LiberationSans"/>
              </a:defRPr>
            </a:pPr>
            <a:r>
              <a:rPr sz="1200" b="1">
                <a:solidFill>
                  <a:srgbClr val="91A2B7"/>
                </a:solidFill>
                <a:latin typeface="LiberationSans"/>
                <a:ea typeface="LiberationSans"/>
                <a:cs typeface="LiberationSan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5E94A-D36F-413D-B356-BF8AB2E7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885825"/>
            <a:ext cx="1114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1575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TrustBridge prepares facts, explains approved rules and manages the checklist. Banks, lenders and qualified professionals execute regulated actions and make final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4D1BB-33B8-435E-86EC-09D1752B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438275"/>
            <a:ext cx="11306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A354B-AFD9-4D87-88CA-0C8E4C10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38300"/>
            <a:ext cx="47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7C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35120-49E0-4F5C-A383-9DFF94BE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28775"/>
            <a:ext cx="3867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567C8"/>
                </a:solidFill>
                <a:latin typeface="LiberationSans"/>
                <a:ea typeface="LiberationSans"/>
                <a:cs typeface="LiberationSans"/>
              </a:defRPr>
            </a:pPr>
            <a:r>
              <a:rPr sz="975" b="1">
                <a:solidFill>
                  <a:srgbClr val="3567C8"/>
                </a:solidFill>
                <a:latin typeface="LiberationSans"/>
                <a:ea typeface="LiberationSans"/>
                <a:cs typeface="LiberationSans"/>
              </a:rPr>
              <a:t>RESPONSIBILITY BOUNDARY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55405-AFE7-4876-8AE0-BDA04587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52625"/>
            <a:ext cx="9525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B3A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0DB36-CA5C-4C29-81F2-CFCE71F2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574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rPr>
              <a:t>Activity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6A4446-60EF-4ABA-A327-6F5A876F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0574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rPr>
              <a:t>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C2BCE-2CDD-4EDA-8948-15FD7F8F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95262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02E4D-1502-4287-9BAF-64F12927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0574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rPr>
              <a:t>TrustBridge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8E810-F690-48DB-AB4A-2AC2B8E7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95262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1A63C-D27C-4B44-B723-B9C81ECD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0574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50" b="1">
                <a:solidFill>
                  <a:srgbClr val="FFFFFF"/>
                </a:solidFill>
                <a:latin typeface="LiberationSans"/>
                <a:ea typeface="LiberationSans"/>
                <a:cs typeface="LiberationSans"/>
              </a:rPr>
              <a:t>Bank or professional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2023F-F7D3-47D1-BAB5-4AB9D8B7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952625"/>
            <a:ext cx="0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D19BFE-02B0-48BC-8991-70BAA1A8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343150"/>
            <a:ext cx="9525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3904F-16F0-4E63-B62B-E68171CA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19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13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Provide facts and consent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C367C5-CBBF-477E-9FC2-3BB2EAD9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4193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Confirms purpose and data access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E3B6C1-CBE9-46D5-8198-B3734910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343150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6B28E1-D283-40BF-9E24-B1144357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4193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Records scope, expiry and revocation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25AE15-58A6-43BE-A750-BD9B8D36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343150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314FEF-4263-4947-995D-80CBF209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4193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Receives only approved fields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5B254A-7E03-44A7-8D97-2B545475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43150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CEC801-D286-4D13-BD32-AC3E13EF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828925"/>
            <a:ext cx="9525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EED563-B1B3-4D31-81E3-F7247ADA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05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13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Generate transition checklist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0D8173-6D27-449F-B6F4-A3936782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9051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Answers missing questions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9B12AB-D28E-4185-A4F6-9E026269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82892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EBEE04-2E07-49A2-A747-0807BFC0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9051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Applies versioned rules and priorities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D1FDD4-31FE-4C6C-B78A-54B852AB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82892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918D58-FD92-403D-88A2-8BC0A6F6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9051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Reviews exceptions when required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FBCDEE-758F-42BA-8009-A84985BF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82892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0F9EBA-C014-4D5D-8298-E4571268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314700"/>
            <a:ext cx="9525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6E66B2-E5F8-494D-8A41-095434CD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3909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13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Change or redesignate account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0149D4-5C93-42E5-B542-491F75BB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3909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Submits requested documents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2DB09A-9A06-41D2-A086-92C9EEE8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314700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767056-BEE3-4733-8D77-3C6C6C87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3909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Prepares the handoff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B2F549-12B3-4DEE-9166-32853D86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314700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4BF545-5633-42BC-B98E-D09BA356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3909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Bank verifies and executes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409038-B8DB-4AAB-AB5B-B66B4B19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314700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9B7FF5-520A-4797-9B8A-F2B49B2E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800475"/>
            <a:ext cx="9525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2A6A87-93F6-43D9-8828-1631EBE0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766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13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Determine tax treatment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A3BC5E-856F-49CF-B854-2E54D48E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8766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Provides day-count and income facts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E9E191-57B2-495B-B009-7ADC3B09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8004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0C7318-1D55-4FA0-B1EE-0F44D2D2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8766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Shows conditions and source links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ADF852-5BE4-45EE-8F44-FA580608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8004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32B1F6-4B1E-4DFE-901D-E210A5E1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8766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Qualified professional resolves complexity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254796-FEAA-468F-AEC6-E4AE9697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80047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7CCD7A-FDCB-4493-9F8B-A139A959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286250"/>
            <a:ext cx="9525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44D994-831A-42BB-A04B-A32CBD0B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624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13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Make a credit decision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362FB0-17BF-42E4-A8BD-6D31C1FD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362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Applies and reviews explanation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1964CA4-A635-477C-BE79-838EC8F9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286250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C1DA5F5-06D7-4399-9E41-95621B7B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362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Shares consented evidence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01FF77B-EAF7-4521-8740-7E6B121C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286250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36FD42-AEFC-489A-9C47-3C53F4DF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3624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Lender sets eligibility and pricing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3123891-EF40-4277-A790-17297585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286250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F08FEBA-C3E2-48A7-998E-7ADC78EA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72025"/>
            <a:ext cx="9525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5417D73-8A35-4F85-8DFA-DAC2D2D8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482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013" b="1">
                <a:solidFill>
                  <a:srgbClr val="172B3A"/>
                </a:solidFill>
                <a:latin typeface="LiberationSans"/>
                <a:ea typeface="LiberationSans"/>
                <a:cs typeface="LiberationSans"/>
              </a:rPr>
              <a:t>Hold funds or credentials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250589E-6304-46E4-B469-D062A98D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8482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Keeps PIN, OTP and passwords private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EC2D77A-B442-41E0-80AB-7A58EBB7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77202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72D6D38-EE02-47B2-A5F2-D230EE4D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8482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Never stores sensitive credentials or moves money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33E3FD6-EAEF-4468-ADA5-9268D060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77202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1F6B5F0-A479-4C56-B322-94AB852B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8482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Regulated institution safeguards the account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FB54F3C-48E9-46C8-9AD8-F53D6842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772025"/>
            <a:ext cx="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D702967-8BCD-4C8F-B737-8041A10E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638300"/>
            <a:ext cx="47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47E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5B9D7AF-8745-4437-A838-B2292749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16287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5947E"/>
                </a:solidFill>
                <a:latin typeface="LiberationSans"/>
                <a:ea typeface="LiberationSans"/>
                <a:cs typeface="LiberationSans"/>
              </a:defRPr>
            </a:pPr>
            <a:r>
              <a:rPr sz="975" b="1">
                <a:solidFill>
                  <a:srgbClr val="05947E"/>
                </a:solidFill>
                <a:latin typeface="LiberationSans"/>
                <a:ea typeface="LiberationSans"/>
                <a:cs typeface="LiberationSans"/>
              </a:rPr>
              <a:t>WHO BUYS IT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4B960B6-2DDD-4D98-82B1-E34107F1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952625"/>
            <a:ext cx="1524000" cy="76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3FD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7486F57-4894-428C-A921-9202BF93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019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567C8"/>
                </a:solidFill>
                <a:latin typeface="LiberationSans"/>
                <a:ea typeface="LiberationSans"/>
                <a:cs typeface="LiberationSans"/>
              </a:defRPr>
            </a:pPr>
            <a:r>
              <a:rPr sz="1125" b="1">
                <a:solidFill>
                  <a:srgbClr val="3567C8"/>
                </a:solidFill>
                <a:latin typeface="LiberationSans"/>
                <a:ea typeface="LiberationSans"/>
                <a:cs typeface="LiberationSans"/>
              </a:rPr>
              <a:t>Bank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9C179C9-79ED-4989-9545-F324EE01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3336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78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NRI acquisition, prepared handoffs and customer retention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F3C4EF8-D06B-42CC-9682-BE36B313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771775"/>
            <a:ext cx="1524000" cy="76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76DD67F-94E7-4397-BB24-92C1215E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8384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5947E"/>
                </a:solidFill>
                <a:latin typeface="LiberationSans"/>
                <a:ea typeface="LiberationSans"/>
                <a:cs typeface="LiberationSans"/>
              </a:defRPr>
            </a:pPr>
            <a:r>
              <a:rPr sz="1125" b="1">
                <a:solidFill>
                  <a:srgbClr val="05947E"/>
                </a:solidFill>
                <a:latin typeface="LiberationSans"/>
                <a:ea typeface="LiberationSans"/>
                <a:cs typeface="LiberationSans"/>
              </a:rPr>
              <a:t>Employer or recruiter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3985ECE-CF2C-424A-881B-86B02AA4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1527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78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Relocation support and lower HR service burden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70BE3D0-1F7D-48CF-92D9-525A73DC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590925"/>
            <a:ext cx="1524000" cy="76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BF0E4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EC388E1-F5B2-47E6-92D2-8B8AF44B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6576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07812"/>
                </a:solidFill>
                <a:latin typeface="LiberationSans"/>
                <a:ea typeface="LiberationSans"/>
                <a:cs typeface="LiberationSans"/>
              </a:defRPr>
            </a:pPr>
            <a:r>
              <a:rPr sz="1125" b="1">
                <a:solidFill>
                  <a:srgbClr val="D07812"/>
                </a:solidFill>
                <a:latin typeface="LiberationSans"/>
                <a:ea typeface="LiberationSans"/>
                <a:cs typeface="LiberationSans"/>
              </a:rPr>
              <a:t>Remittance or fintech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FACD0BE-331E-4FAE-8960-FB4626DC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9719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78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Deeper engagement around the transfer journey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C7D54EB-E4EF-4646-9DF0-28E30F05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410075"/>
            <a:ext cx="1524000" cy="762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0ECF8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BC33E75-EF16-4D44-ADFC-AB66F9F8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4767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351B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125" b="1">
                <a:solidFill>
                  <a:srgbClr val="7351BA"/>
                </a:solidFill>
                <a:latin typeface="LiberationSans"/>
                <a:ea typeface="LiberationSans"/>
                <a:cs typeface="LiberationSans"/>
              </a:rPr>
              <a:t>Insurer or wealth firm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0CD1C99-14E7-4992-AEC1-A27B16F2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7910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78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Timely reviews after income and residency events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EF84B76-3724-49D4-A15B-14ADED7F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419725"/>
            <a:ext cx="47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7812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6C23DD3-350B-40DF-B422-87EEA081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10200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07812"/>
                </a:solidFill>
                <a:latin typeface="LiberationSans"/>
                <a:ea typeface="LiberationSans"/>
                <a:cs typeface="LiberationSans"/>
              </a:defRPr>
            </a:pPr>
            <a:r>
              <a:rPr sz="975" b="1">
                <a:solidFill>
                  <a:srgbClr val="D07812"/>
                </a:solidFill>
                <a:latin typeface="LiberationSans"/>
                <a:ea typeface="LiberationSans"/>
                <a:cs typeface="LiberationSans"/>
              </a:rPr>
              <a:t>PILOT OPERATING MODEL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CBEB0BD-AD46-4FB3-BAE9-67C016D2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762625"/>
            <a:ext cx="2647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567C8"/>
                </a:solidFill>
                <a:latin typeface="LiberationSans"/>
                <a:ea typeface="LiberationSans"/>
                <a:cs typeface="LiberationSans"/>
              </a:defRPr>
            </a:pPr>
            <a:r>
              <a:rPr sz="1200" b="1">
                <a:solidFill>
                  <a:srgbClr val="3567C8"/>
                </a:solidFill>
                <a:latin typeface="LiberationSans"/>
                <a:ea typeface="LiberationSans"/>
                <a:cs typeface="LiberationSans"/>
              </a:rPr>
              <a:t>Distribution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D0ECEBA-A0AD-4379-9D13-2570EC03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048375"/>
            <a:ext cx="2647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Bank, employer or remittance partner embeds the journey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45A0388-5062-4F71-A5F7-50C5B727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5310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481EEAF-F927-4671-8100-E3C46EED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762625"/>
            <a:ext cx="2647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5947E"/>
                </a:solidFill>
                <a:latin typeface="LiberationSans"/>
                <a:ea typeface="LiberationSans"/>
                <a:cs typeface="LiberationSans"/>
              </a:defRPr>
            </a:pPr>
            <a:r>
              <a:rPr sz="1200" b="1">
                <a:solidFill>
                  <a:srgbClr val="05947E"/>
                </a:solidFill>
                <a:latin typeface="LiberationSans"/>
                <a:ea typeface="LiberationSans"/>
                <a:cs typeface="LiberationSans"/>
              </a:rPr>
              <a:t>Commercial model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166B7D6-8E1B-4BFF-B25C-C7971F94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6048375"/>
            <a:ext cx="2647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Annual licence plus per active journey or API usage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1F8E256-6444-486D-9BF2-83E13F2D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75310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E431733-D2EA-4C37-8CBD-446BE2DD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762625"/>
            <a:ext cx="2647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07812"/>
                </a:solidFill>
                <a:latin typeface="LiberationSans"/>
                <a:ea typeface="LiberationSans"/>
                <a:cs typeface="LiberationSans"/>
              </a:defRPr>
            </a:pPr>
            <a:r>
              <a:rPr sz="1200" b="1">
                <a:solidFill>
                  <a:srgbClr val="D07812"/>
                </a:solidFill>
                <a:latin typeface="LiberationSans"/>
                <a:ea typeface="LiberationSans"/>
                <a:cs typeface="LiberationSans"/>
              </a:rPr>
              <a:t>Pilot measures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269FBF9-678D-45DC-8045-E2CA7062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6048375"/>
            <a:ext cx="2647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Checklist completion, time to handoff, evidence coverage and correction rate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66AE602-F096-4EC1-A79C-4547E464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75310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F1BF23A-3147-480D-B054-8082BAF0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762625"/>
            <a:ext cx="2647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351BA"/>
                </a:solidFill>
                <a:latin typeface="LiberationSans"/>
                <a:ea typeface="LiberationSans"/>
                <a:cs typeface="LiberationSans"/>
              </a:defRPr>
            </a:pPr>
            <a:r>
              <a:rPr sz="1200" b="1">
                <a:solidFill>
                  <a:srgbClr val="7351BA"/>
                </a:solidFill>
                <a:latin typeface="LiberationSans"/>
                <a:ea typeface="LiberationSans"/>
                <a:cs typeface="LiberationSans"/>
              </a:rPr>
              <a:t>Safety measures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C2B9463-9D95-423B-98B7-07D0CC07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6048375"/>
            <a:ext cx="2647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defRPr>
            </a:pPr>
            <a:r>
              <a:rPr sz="938" b="0">
                <a:solidFill>
                  <a:srgbClr val="5B7089"/>
                </a:solidFill>
                <a:latin typeface="LiberationSans"/>
                <a:ea typeface="LiberationSans"/>
                <a:cs typeface="LiberationSans"/>
              </a:rPr>
              <a:t>Consent withdrawals, escalations, rule exceptions and fairness review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7311753-A693-4D5C-9E36-A7F9B950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581775"/>
            <a:ext cx="11306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1FFF138-7FA4-45BC-947B-ACD1956E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648450"/>
            <a:ext cx="10953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91A2B7"/>
                </a:solidFill>
                <a:latin typeface="LiberationSans"/>
                <a:ea typeface="LiberationSans"/>
                <a:cs typeface="LiberationSans"/>
              </a:defRPr>
            </a:pPr>
            <a:r>
              <a:rPr sz="788" b="0">
                <a:solidFill>
                  <a:srgbClr val="91A2B7"/>
                </a:solidFill>
                <a:latin typeface="LiberationSans"/>
                <a:ea typeface="LiberationSans"/>
                <a:cs typeface="LiberationSans"/>
              </a:rPr>
              <a:t>Proposed B2B2C operating model. TrustBridge does not claim custody, account execution, tax representation or autonomous lending authority.</a:t>
            </a:r>
          </a:p>
        </p:txBody>
      </p:sp>
    </p:spTree>
    <p:extLst>
      <p:ext uri="{BB962C8B-B14F-4D97-AF65-F5344CB8AC3E}">
        <p14:creationId xmlns:p14="http://schemas.microsoft.com/office/powerpoint/2010/main" val="5618342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2026-09-20T05:38:59.4500000Z</dcterms:created>
  <dcterms:modified xsi:type="dcterms:W3CDTF">2026-09-20T05:38:59.4500000Z</dcterms:modified>
</coreProperties>
</file>